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B2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E1B2C"/>
                </a:solidFill>
                <a:latin typeface="Arial"/>
              </a:rPr>
              <a:t>Pesquisa com lojistas (n = 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dos lojistas</c:v>
                </c:pt>
              </c:strCache>
            </c:strRef>
          </c:tx>
          <c:spPr>
            <a:solidFill>
              <a:srgbClr val="2F6F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E6C-40A5-ADAA-9F9780CF921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E6C-40A5-ADAA-9F9780CF921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E6C-40A5-ADAA-9F9780CF921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E6C-40A5-ADAA-9F9780CF921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E6C-40A5-ADAA-9F9780CF9217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E1B2C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Acham útil detectar divergência automaticamente</c:v>
                </c:pt>
                <c:pt idx="1">
                  <c:v>Já tiveram prejuízo por erro de estoque</c:v>
                </c:pt>
                <c:pt idx="2">
                  <c:v>Têm produtos parados no estoque</c:v>
                </c:pt>
                <c:pt idx="3">
                  <c:v>Perderam vendas por erro de estoque</c:v>
                </c:pt>
                <c:pt idx="4">
                  <c:v>Descobrem o erro só na contagem física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E6C-40A5-ADAA-9F9780CF92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E1B2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94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(30s). Somos a equipe WedThec e escolhemos a Dor 1: Estoque Inteligente e Omnichannel. A WedTech é um sistema para a loja de bairro vender em vários lugares ao mesmo tempo — loja física, site, WhatsApp e marketplaces — com um estoque só, em tempo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dor (1 min). Os números do próprio desafio: até 12% de ruptura na loja física, 36% no e-commerce, 42% das perdas de venda vêm de falta de estoque e R$ 36,5 bilhões perdidos em 2025. A raiz é o estoque fragmentado entre canais.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Validação (1 min). Não ficamos só nos números do desafio: entrevistamos 5 lojistas. 60% já tiveram prejuízo com erro de estoque, 60% têm produto parado, e o dado mais forte: 100% acham útil uma ferramenta que detecte a divergência automaticamente (80% marcaram 'extremamente útil'). E 60% já usam ERP — ou seja, ter um sistema não resolve; falta integração e inteligência. O que eles pediram, com as palavras deles: 'sinalizar o que está acabando para repor'.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Solução (1 min). A WedTech coloca todos os canais em cima de um estoque único. Vendeu em qualquer lugar, o número cai em todos. Por cima desse estoque vêm os pedidos centralizados, a IA de reposição, a IoT da loja física e o alerta quando uma venda no marketplace daria prejuízo por causa das taxas.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real (1 min 30). Aqui é onde mostramos ao vivo: compro na vitrine do Mercado Livre, o pedido aparece no painel em até 3 segundos com aviso sonoro e o estoque cai no painel e em todas as vitrines. E o contrário: vendeu no balcão, o anúncio do marketplace se ajusta sozinho. A loja nunca vende o que não 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(1 min). Na primeira tela o lojista vê o que precisa de atenção: ruptura, vendas por canal, produtos parados e pedidos para separar. Cada indicador leva direto para a tela que resolve. E o sistema avisa quando uma venda num marketplace daria prejuízo por causa das taxas.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 (1 min). A Dor 1 pede IA e automação. A WedTech cruza vendas, sazonalidade e prazo do fornecedor: sabe que o fone acaba em 3,7 dias e o fornecedor leva 7, então já deixa o pedido de compra pronto. Antes do Dia das Crianças, prevê vendas 1,9 vez maiores e manda reforçar 7 produtos. E o lojista pode simplesmente perguntar à WedTech AI o que 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IoT (45s). A pesquisa mostrou que 40% só descobrem o erro na contagem física. Por isso a loja física entra no mesmo estoque: leitor de código de barras, sensores de prateleira que diferenciam prateleira de depósito, etiquetas eletrônicas e o caixa integrado. No MVP os dispositivos são simulados; a integração com hardware real está no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negócio (1 min). A loja de bairro precisa de alguém do lado dela, então a WedTech é vendida por consultor. O lojista pede proposta no site, o consultor cota com um clique, o cliente aceita pelo link com contrato e a loja já nasce configurada. Receita recorrente: plano a partir de R$ 149 mais a integração de cada marketplace; e uma receita de implantação pelo cadastro de cada produto em cada canal.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Viabilidade técnica (1 min). O MVP funciona de ponta a ponta. Stack simples e robusta: PHP 8.3, SQLite e JavaScript puro. Cada loja tem um estado com número de revisão, então duas telas salvando ao mesmo tempo não se sobrescrevem. Temos 3 suítes de testes automatizados e uma demonstração automática que valida 33 pontos em 17 etapas.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Inovação (45s). Seis diferenciais: pensado para a loja de bairro, tempo real entre todos os canais, IA que considera o prazo do fornecedor, IoT na loja física, proteção de margem contra taxas e um consultor ao lado do lojista.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(45s). Somos transparentes: hoje as vitrines e os dispositivos são simulados. Os próximos passos são integrar as APIs oficiais dos marketplaces, emitir nota fiscal e colocar hardware IoT real numa loja piloto. Depois, publicação em produção, cobrança recorrente e múltiplos usuários por loja.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Equipe (30s). Apresentar rapidamente cada integrante e a função de cada um no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(15s). Um estoque só, todos os canais, nenhuma venda perdida. Obrigado — agora mostramos o sistema funcionando ao vivo e ficamos abertos às perguntas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12" Type="http://schemas.openxmlformats.org/officeDocument/2006/relationships/image" Target="../media/image4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jpeg"/><Relationship Id="rId11" Type="http://schemas.openxmlformats.org/officeDocument/2006/relationships/image" Target="../media/image47.jpeg"/><Relationship Id="rId5" Type="http://schemas.openxmlformats.org/officeDocument/2006/relationships/image" Target="../media/image41.jpeg"/><Relationship Id="rId10" Type="http://schemas.openxmlformats.org/officeDocument/2006/relationships/image" Target="../media/image46.jpeg"/><Relationship Id="rId4" Type="http://schemas.openxmlformats.org/officeDocument/2006/relationships/image" Target="../media/image40.jpeg"/><Relationship Id="rId9" Type="http://schemas.openxmlformats.org/officeDocument/2006/relationships/image" Target="../media/image4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img/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21792"/>
            <a:ext cx="859536" cy="859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5A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WECTI 2026</a:t>
            </a:r>
            <a:endParaRPr lang="en-US" sz="1200" dirty="0"/>
          </a:p>
          <a:p>
            <a:pPr marL="0" indent="0">
              <a:buNone/>
            </a:pPr>
            <a:r>
              <a:rPr lang="en-US" sz="1200" b="1" kern="0" spc="300" dirty="0">
                <a:solidFill>
                  <a:srgbClr val="75A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 1 — ESTOQUE INTELIGENTE &amp; OMNICHANNEL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WedTech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loja do bairro, vendendo em todo lugar. </a:t>
            </a:r>
            <a:r>
              <a:rPr lang="en-US" sz="2400" b="1" dirty="0">
                <a:solidFill>
                  <a:srgbClr val="75A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um estoque só.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348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física, site, WhatsApp e marketplaces sincronizados em tempo real — com IA e IoT cuidando da reposição.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5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WedThec  ·  Lab 12  ·  UNICID  ·  30/09/2026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371600"/>
            <a:ext cx="5394960" cy="3074670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img/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17320"/>
            <a:ext cx="5303520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DOR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varejo perde vendas porque não sabe o que 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10–12%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ruptura média nas lojas físicas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Neogrid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361188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produtos indisponíveis online no ato da compra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44652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perdas de vendas causadas por falta de estoque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081A2E"/>
          </a:solidFill>
          <a:ln w="12700">
            <a:solidFill>
              <a:srgbClr val="08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928116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R$ 36,5 bi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prejuízo anual do varejo em 2025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/ Abrappe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4972050"/>
            <a:ext cx="342900" cy="3429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63040" y="47548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causa: estoque fragmentado. </a:t>
            </a:r>
            <a:r>
              <a:rPr lang="en-US" sz="17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física, site, WhatsApp e cada marketplace com um número diferente. Resultado: ruptura, produtos parados, venda do que não existe (overselling) e cliente perdido.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dados apresentados na abertura do Hackathon WECTI 2026 (25/09).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COM LOJISTAS REAIS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Fomos a campo: 5 lojistas confirmaram a dor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920240"/>
          <a:ext cx="603504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78308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081A2E"/>
          </a:solidFill>
          <a:ln w="12700">
            <a:solidFill>
              <a:srgbClr val="08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7452360" y="192024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75A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19202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usam ERP ou sistema de gestão — e mesmo assim erram o estoque.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23760" y="329184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5204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55280" y="345643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Verificasse quais estão acabando e sinalizasse automaticamente para repor.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955280" y="4251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lojista entrevistado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223760" y="475488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49834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955280" y="491947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rápido… hoje o tempo é essencial.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955280" y="5715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lojista entrevistado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5A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estoque só para todos os canais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102A4A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56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física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66160" y="2103120"/>
            <a:ext cx="1143000" cy="1691640"/>
          </a:xfrm>
          <a:prstGeom prst="line">
            <a:avLst/>
          </a:prstGeom>
          <a:noFill/>
          <a:ln w="15875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102A4A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64261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próprio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566160" y="2788920"/>
            <a:ext cx="1143000" cy="1005840"/>
          </a:xfrm>
          <a:prstGeom prst="line">
            <a:avLst/>
          </a:prstGeom>
          <a:noFill/>
          <a:ln w="15875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102A4A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32841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3200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Instagram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3566160" y="3474720"/>
            <a:ext cx="1143000" cy="320040"/>
          </a:xfrm>
          <a:prstGeom prst="line">
            <a:avLst/>
          </a:prstGeom>
          <a:noFill/>
          <a:ln w="15875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102A4A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01421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Livre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 flipV="1">
            <a:off x="3566160" y="3794760"/>
            <a:ext cx="1143000" cy="365760"/>
          </a:xfrm>
          <a:prstGeom prst="line">
            <a:avLst/>
          </a:prstGeom>
          <a:noFill/>
          <a:ln w="15875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4"/>
          <p:cNvSpPr/>
          <p:nvPr/>
        </p:nvSpPr>
        <p:spPr>
          <a:xfrm>
            <a:off x="548640" y="457200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102A4A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700016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4572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 flipV="1">
            <a:off x="3566160" y="3794760"/>
            <a:ext cx="1143000" cy="1051560"/>
          </a:xfrm>
          <a:prstGeom prst="line">
            <a:avLst/>
          </a:prstGeom>
          <a:noFill/>
          <a:ln w="15875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7"/>
          <p:cNvSpPr/>
          <p:nvPr/>
        </p:nvSpPr>
        <p:spPr>
          <a:xfrm>
            <a:off x="548640" y="5257800"/>
            <a:ext cx="3017520" cy="548640"/>
          </a:xfrm>
          <a:prstGeom prst="roundRect">
            <a:avLst>
              <a:gd name="adj" fmla="val 16667"/>
            </a:avLst>
          </a:prstGeom>
          <a:solidFill>
            <a:srgbClr val="102A4A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5385816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43000" y="5257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 flipV="1">
            <a:off x="3566160" y="3794760"/>
            <a:ext cx="1143000" cy="1737360"/>
          </a:xfrm>
          <a:prstGeom prst="line">
            <a:avLst/>
          </a:prstGeom>
          <a:noFill/>
          <a:ln w="15875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0"/>
          <p:cNvSpPr/>
          <p:nvPr/>
        </p:nvSpPr>
        <p:spPr>
          <a:xfrm>
            <a:off x="4663440" y="2377440"/>
            <a:ext cx="2834640" cy="2834640"/>
          </a:xfrm>
          <a:prstGeom prst="ellipse">
            <a:avLst/>
          </a:prstGeom>
          <a:solidFill>
            <a:srgbClr val="2F6FB2"/>
          </a:solidFill>
          <a:ln w="38100">
            <a:solidFill>
              <a:srgbClr val="75A9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0" y="2743200"/>
            <a:ext cx="640080" cy="6400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754880" y="3429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Estoque único</a:t>
            </a:r>
            <a:endParaRPr lang="en-US" sz="2200" dirty="0"/>
          </a:p>
        </p:txBody>
      </p:sp>
      <p:sp>
        <p:nvSpPr>
          <p:cNvPr id="31" name="Text 22"/>
          <p:cNvSpPr txBox="1"/>
          <p:nvPr/>
        </p:nvSpPr>
        <p:spPr>
          <a:xfrm>
            <a:off x="475488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3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em ~3 s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 flipV="1">
            <a:off x="7498080" y="2304288"/>
            <a:ext cx="822960" cy="1490472"/>
          </a:xfrm>
          <a:prstGeom prst="line">
            <a:avLst/>
          </a:prstGeom>
          <a:noFill/>
          <a:ln w="15875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24"/>
          <p:cNvSpPr/>
          <p:nvPr/>
        </p:nvSpPr>
        <p:spPr>
          <a:xfrm>
            <a:off x="8321040" y="1920240"/>
            <a:ext cx="768096" cy="768096"/>
          </a:xfrm>
          <a:prstGeom prst="ellipse">
            <a:avLst/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3064" y="2112264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235440" y="192024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todos os canais num lugar só</a:t>
            </a:r>
            <a:endParaRPr lang="en-US" sz="1400" dirty="0"/>
          </a:p>
        </p:txBody>
      </p:sp>
      <p:sp>
        <p:nvSpPr>
          <p:cNvPr id="36" name="Shape 26"/>
          <p:cNvSpPr/>
          <p:nvPr/>
        </p:nvSpPr>
        <p:spPr>
          <a:xfrm flipV="1">
            <a:off x="7498080" y="3291840"/>
            <a:ext cx="822960" cy="502920"/>
          </a:xfrm>
          <a:prstGeom prst="line">
            <a:avLst/>
          </a:prstGeom>
          <a:noFill/>
          <a:ln w="15875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27"/>
          <p:cNvSpPr/>
          <p:nvPr/>
        </p:nvSpPr>
        <p:spPr>
          <a:xfrm>
            <a:off x="8321040" y="2907792"/>
            <a:ext cx="768096" cy="768096"/>
          </a:xfrm>
          <a:prstGeom prst="ellipse">
            <a:avLst/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3064" y="3099816"/>
            <a:ext cx="384048" cy="384048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235440" y="2907792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prevê ruptura e prepara a reposição</a:t>
            </a:r>
            <a:endParaRPr lang="en-US" sz="1400" dirty="0"/>
          </a:p>
        </p:txBody>
      </p:sp>
      <p:sp>
        <p:nvSpPr>
          <p:cNvPr id="40" name="Shape 29"/>
          <p:cNvSpPr/>
          <p:nvPr/>
        </p:nvSpPr>
        <p:spPr>
          <a:xfrm>
            <a:off x="7498080" y="3794760"/>
            <a:ext cx="822960" cy="484632"/>
          </a:xfrm>
          <a:prstGeom prst="line">
            <a:avLst/>
          </a:prstGeom>
          <a:noFill/>
          <a:ln w="15875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0"/>
          <p:cNvSpPr/>
          <p:nvPr/>
        </p:nvSpPr>
        <p:spPr>
          <a:xfrm>
            <a:off x="8321040" y="3895344"/>
            <a:ext cx="768096" cy="768096"/>
          </a:xfrm>
          <a:prstGeom prst="ellipse">
            <a:avLst/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3064" y="4087368"/>
            <a:ext cx="384048" cy="38404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9235440" y="3895344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IoT: prateleira, código de barras e etiquetas</a:t>
            </a:r>
            <a:endParaRPr lang="en-US" sz="1400" dirty="0"/>
          </a:p>
        </p:txBody>
      </p:sp>
      <p:sp>
        <p:nvSpPr>
          <p:cNvPr id="44" name="Shape 32"/>
          <p:cNvSpPr/>
          <p:nvPr/>
        </p:nvSpPr>
        <p:spPr>
          <a:xfrm>
            <a:off x="7498080" y="3794760"/>
            <a:ext cx="822960" cy="1472184"/>
          </a:xfrm>
          <a:prstGeom prst="line">
            <a:avLst/>
          </a:prstGeom>
          <a:noFill/>
          <a:ln w="15875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33"/>
          <p:cNvSpPr/>
          <p:nvPr/>
        </p:nvSpPr>
        <p:spPr>
          <a:xfrm>
            <a:off x="8321040" y="4882896"/>
            <a:ext cx="768096" cy="768096"/>
          </a:xfrm>
          <a:prstGeom prst="ellipse">
            <a:avLst/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13064" y="5074920"/>
            <a:ext cx="384048" cy="384048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9235440" y="4882896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venda com prejuízo por taxa</a:t>
            </a:r>
            <a:endParaRPr lang="en-US" sz="1400" dirty="0"/>
          </a:p>
        </p:txBody>
      </p:sp>
      <p:sp>
        <p:nvSpPr>
          <p:cNvPr id="48" name="Text 35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CORAÇÃO DO SISTEMA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Vendeu em um canal, o estoque cai em todos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40680" cy="3099816"/>
          </a:xfrm>
          <a:prstGeom prst="rect">
            <a:avLst/>
          </a:prstGeom>
          <a:solidFill>
            <a:srgbClr val="D5DEEA"/>
          </a:solidFill>
          <a:ln w="12700">
            <a:solidFill>
              <a:srgbClr val="D5DEEA"/>
            </a:solidFill>
            <a:prstDash val="solid"/>
          </a:ln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img/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349240" cy="30083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1737360"/>
            <a:ext cx="5440680" cy="3099816"/>
          </a:xfrm>
          <a:prstGeom prst="rect">
            <a:avLst/>
          </a:prstGeom>
          <a:solidFill>
            <a:srgbClr val="D5DEEA"/>
          </a:solidFill>
          <a:ln w="12700">
            <a:solidFill>
              <a:srgbClr val="D5DEEA"/>
            </a:solidFill>
            <a:prstDash val="solid"/>
          </a:ln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1" descr="img/estoq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83080"/>
            <a:ext cx="5349240" cy="30083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87375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Mercado Livre (simulada) — mesmo estoque do painel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309360" y="487375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lojista — prateleira, depósito, reservado e disponível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5394960"/>
            <a:ext cx="548640" cy="54864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 txBox="1"/>
          <p:nvPr/>
        </p:nvSpPr>
        <p:spPr>
          <a:xfrm>
            <a:off x="54864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5394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compra no marketplace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343400" y="5394960"/>
            <a:ext cx="548640" cy="54864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434340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0" y="5394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cai no painel com aviso sonoro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38160" y="5394960"/>
            <a:ext cx="548640" cy="54864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 txBox="1"/>
          <p:nvPr/>
        </p:nvSpPr>
        <p:spPr>
          <a:xfrm>
            <a:off x="813816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823960" y="5394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baixa em todos os canais — sem F5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DO LOJISTA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o sistema e já sabe o que fazer agora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6858000" cy="4334256"/>
          </a:xfrm>
          <a:prstGeom prst="rect">
            <a:avLst/>
          </a:prstGeom>
          <a:solidFill>
            <a:srgbClr val="D5DEEA"/>
          </a:solidFill>
          <a:ln w="12700">
            <a:solidFill>
              <a:srgbClr val="D5DEEA"/>
            </a:solidFill>
            <a:prstDash val="solid"/>
          </a:ln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img/ini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766560" cy="42428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828800"/>
            <a:ext cx="640080" cy="64008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80" y="19888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039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Ruptura clicável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50392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clique leva ao estoque filtrado para repor.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680960" y="2898648"/>
            <a:ext cx="640080" cy="64008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0" y="305866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03920" y="2852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 por canal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503920" y="32186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canal vende mais, hoje, num gráfico só.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680960" y="3968496"/>
            <a:ext cx="640080" cy="64008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4128516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503920" y="39227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parados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8503920" y="42885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dinheiro preso em produto sem giro.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680960" y="5038344"/>
            <a:ext cx="640080" cy="64008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0980" y="5198364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503920" y="4992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 com prejuízo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8503920" y="53583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reais de cada marketplace e margem mínima.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ARTIFICIAL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que antecipa a demanda antes da ruptura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081A2E"/>
          </a:solidFill>
          <a:ln w="12700">
            <a:solidFill>
              <a:srgbClr val="08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75A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1,9×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vendas previstas no Dia das Crianças — 7 produtos já sinalizados para reforço.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66928" cy="566928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89077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367588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  </a:t>
            </a: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Friday, Natal, Volta às aulas: a IA prepara o estoque respeitando o prazo de cada fornecedor.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617720"/>
            <a:ext cx="566928" cy="566928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7594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454456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Reposição automática  </a:t>
            </a: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“Fone Bluetooth acaba em ~3,7 dias e o fornecedor leva 7” → pedido de compra pronto para confirmar.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5486400"/>
            <a:ext cx="566928" cy="566928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62813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541324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WedTech AI  </a:t>
            </a: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que responde em linguagem natural: “o que eu faço agora?”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74920" y="1737360"/>
            <a:ext cx="6629400" cy="3758184"/>
          </a:xfrm>
          <a:prstGeom prst="rect">
            <a:avLst/>
          </a:prstGeom>
          <a:solidFill>
            <a:srgbClr val="D5DEEA"/>
          </a:solidFill>
          <a:ln w="12700">
            <a:solidFill>
              <a:srgbClr val="D5DEEA"/>
            </a:solidFill>
            <a:prstDash val="solid"/>
          </a:ln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3" descr="img/saz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783080"/>
            <a:ext cx="6537960" cy="3666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20640" y="553212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“Datas especiais e sazonalidade” — plano automático para o Dia das Crianças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NA LOJA FÍSICA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loja física também fala com o estoque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46320" y="1737360"/>
            <a:ext cx="6858000" cy="3877056"/>
          </a:xfrm>
          <a:prstGeom prst="rect">
            <a:avLst/>
          </a:prstGeom>
          <a:solidFill>
            <a:srgbClr val="D5DEEA"/>
          </a:solidFill>
          <a:ln w="12700">
            <a:solidFill>
              <a:srgbClr val="D5DEEA"/>
            </a:solidFill>
            <a:prstDash val="solid"/>
          </a:ln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img/i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83080"/>
            <a:ext cx="6766560" cy="37856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603504" cy="603504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1979676"/>
            <a:ext cx="301752" cy="3017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 de código de barras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325880" y="21122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bipagem no caixa, na separação e no recebimento atualiza o estoque na hora.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788920"/>
            <a:ext cx="603504" cy="603504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2939796"/>
            <a:ext cx="301752" cy="30175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de prateleira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325880" y="30723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prateleira de depósito: “1 na prateleira e 13 no depósito — repor”.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749040"/>
            <a:ext cx="603504" cy="603504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3899916"/>
            <a:ext cx="301752" cy="30175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Etiquetas eletrônicas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325880" y="40325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sincronizado entre a gôndola e todos os canais.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48640" y="4709160"/>
            <a:ext cx="603504" cy="603504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" y="4860036"/>
            <a:ext cx="301752" cy="30175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4663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(PDV) integrado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1325880" y="49926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Abertura, sangria, Pix e dinheiro — venda do balcão baixa o marketplace.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NEGÓCIO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Vendido por consultor, pago por canal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31520" cy="73152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de proposta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Lojista conta sobre a loja no site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17320" y="2148840"/>
            <a:ext cx="1828800" cy="0"/>
          </a:xfrm>
          <a:prstGeom prst="line">
            <a:avLst/>
          </a:prstGeom>
          <a:noFill/>
          <a:ln w="19050">
            <a:solidFill>
              <a:srgbClr val="C9D6E6"/>
            </a:solidFill>
            <a:prstDash val="dash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383280" y="1783080"/>
            <a:ext cx="731520" cy="73152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Cotação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monta o preço por canal e por produto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251960" y="2148840"/>
            <a:ext cx="1828800" cy="0"/>
          </a:xfrm>
          <a:prstGeom prst="line">
            <a:avLst/>
          </a:prstGeom>
          <a:noFill/>
          <a:ln w="19050">
            <a:solidFill>
              <a:srgbClr val="C9D6E6"/>
            </a:solidFill>
            <a:prstDash val="dash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6217920" y="1783080"/>
            <a:ext cx="731520" cy="73152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9659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 com contrato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próprio, aceite eletrônico sem login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086600" y="2148840"/>
            <a:ext cx="1828800" cy="0"/>
          </a:xfrm>
          <a:prstGeom prst="line">
            <a:avLst/>
          </a:prstGeom>
          <a:noFill/>
          <a:ln w="19050">
            <a:solidFill>
              <a:srgbClr val="C9D6E6"/>
            </a:solidFill>
            <a:prstDash val="dash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9052560" y="1783080"/>
            <a:ext cx="731520" cy="73152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19659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5256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 no ar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05256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Criada já configurada com o plano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3977640"/>
            <a:ext cx="1965960" cy="192024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8"/>
          <p:cNvSpPr txBox="1"/>
          <p:nvPr/>
        </p:nvSpPr>
        <p:spPr>
          <a:xfrm>
            <a:off x="73152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4526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R$ 149</a:t>
            </a:r>
            <a:endParaRPr lang="en-US" sz="3000" dirty="0"/>
          </a:p>
        </p:txBody>
      </p:sp>
      <p:sp>
        <p:nvSpPr>
          <p:cNvPr id="26" name="Text 20"/>
          <p:cNvSpPr txBox="1"/>
          <p:nvPr/>
        </p:nvSpPr>
        <p:spPr>
          <a:xfrm>
            <a:off x="731520" y="5212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mês, plataforma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2697480" y="3977640"/>
            <a:ext cx="1965960" cy="1920240"/>
          </a:xfrm>
          <a:prstGeom prst="roundRect">
            <a:avLst>
              <a:gd name="adj" fmla="val 5714"/>
            </a:avLst>
          </a:prstGeom>
          <a:solidFill>
            <a:srgbClr val="081A2E"/>
          </a:solidFill>
          <a:ln w="12700">
            <a:solidFill>
              <a:srgbClr val="08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2"/>
          <p:cNvSpPr txBox="1"/>
          <p:nvPr/>
        </p:nvSpPr>
        <p:spPr>
          <a:xfrm>
            <a:off x="288036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5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2880360" y="4526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R$ 299</a:t>
            </a:r>
            <a:endParaRPr lang="en-US" sz="3000" dirty="0"/>
          </a:p>
        </p:txBody>
      </p:sp>
      <p:sp>
        <p:nvSpPr>
          <p:cNvPr id="30" name="Text 24"/>
          <p:cNvSpPr txBox="1"/>
          <p:nvPr/>
        </p:nvSpPr>
        <p:spPr>
          <a:xfrm>
            <a:off x="2880360" y="5212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mês, plataforma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846320" y="3977640"/>
            <a:ext cx="1965960" cy="192024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6"/>
          <p:cNvSpPr txBox="1"/>
          <p:nvPr/>
        </p:nvSpPr>
        <p:spPr>
          <a:xfrm>
            <a:off x="502920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Avançado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5029200" y="4526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R$ 549</a:t>
            </a:r>
            <a:endParaRPr lang="en-US" sz="3000" dirty="0"/>
          </a:p>
        </p:txBody>
      </p:sp>
      <p:sp>
        <p:nvSpPr>
          <p:cNvPr id="34" name="Text 28"/>
          <p:cNvSpPr txBox="1"/>
          <p:nvPr/>
        </p:nvSpPr>
        <p:spPr>
          <a:xfrm>
            <a:off x="5029200" y="5212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mês, plataforma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7086600" y="3977640"/>
            <a:ext cx="4572000" cy="1920240"/>
          </a:xfrm>
          <a:prstGeom prst="roundRect">
            <a:avLst>
              <a:gd name="adj" fmla="val 5714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0"/>
          <p:cNvSpPr txBox="1"/>
          <p:nvPr/>
        </p:nvSpPr>
        <p:spPr>
          <a:xfrm>
            <a:off x="7315200" y="4114800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+ integração de cada marketplace (ex.: Mercado Livre R$ 79/mês) + recursos extras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único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cada produto em cada marketplace (ex.: R$ 4,90) + implantação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sugere automaticamente o plano mais barato que atende a loja. Valores da tabela do MVP, editáveis pelo administrador.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5A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VIABILIDADE TÉCNICA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funcional, testado e rodando hoje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02A4A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5A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verificações automáticas em 17 etapas na demonstração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02A4A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61188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5A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 entre painel, vitrines e consultor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02A4A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44652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5A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suítes de testes automatizados no servidor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7830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02A4A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928116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5A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externas: roda até sem internet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685800" cy="68580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4103370"/>
            <a:ext cx="342900" cy="3429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39136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2611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e JavaScript puros, sem build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17920" y="3931920"/>
            <a:ext cx="685800" cy="68580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370" y="4103370"/>
            <a:ext cx="342900" cy="3429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086600" y="39136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7086600" y="42611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 + SQLite, migrações versionadas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" y="4983480"/>
            <a:ext cx="685800" cy="68580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5154930"/>
            <a:ext cx="342900" cy="3429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417320" y="49651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Consistência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1417320" y="53126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com número de revisão: gravação conflitante é recusada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217920" y="4983480"/>
            <a:ext cx="685800" cy="68580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370" y="5154930"/>
            <a:ext cx="342900" cy="3429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086600" y="49651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Canais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7086600" y="53126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Vitrines ML, Amazon e Shopee lendo o mesmo estoque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INOVAÇÃO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nos diferencia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217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Feito para a loja de bairro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planilha, sem ERP pesado: implantação guiada por consultor.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22174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real de verdade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física, site, WhatsApp e marketplaces no mesmo número.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321040" y="2057400"/>
            <a:ext cx="640080" cy="64008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22174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+ prazo do fornecedor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a ruptura antes dela acontecer e prepara a compra.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4411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no balcão e na prateleira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349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Prateleira vs. depósito: repõe antes do cliente não achar.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297680" y="3977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4572000" y="4251960"/>
            <a:ext cx="640080" cy="64008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2020" y="44119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7200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a margem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349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quando a taxa do marketplace transforma venda em prejuízo.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3"/>
          <p:cNvSpPr/>
          <p:nvPr/>
        </p:nvSpPr>
        <p:spPr>
          <a:xfrm>
            <a:off x="8321040" y="4251960"/>
            <a:ext cx="640080" cy="64008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1060" y="441198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2104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 ao lado do lojista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349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por chat em tempo real e plano ajustado em segundos.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MVP para lojas reais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731520" cy="731520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· MVP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3154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único multicanal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Painel, PDV, IA e IoT (simulada)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Consultor, cotação e contrato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Vitrines ML, Amazon e Shopee simuladas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731520" cy="731520"/>
          </a:xfrm>
          <a:prstGeom prst="ellipse">
            <a:avLst/>
          </a:prstGeom>
          <a:solidFill>
            <a:srgbClr val="2F6FB2"/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1488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343400" y="297180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4572000" y="3154680"/>
            <a:ext cx="3154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oficiais dos marketplaces (OAuth, anúncios, webhooks)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fiscal NF-e / NFC-e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IoT real na loja piloto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83880" y="1965960"/>
            <a:ext cx="731520" cy="731520"/>
          </a:xfrm>
          <a:prstGeom prst="ellipse">
            <a:avLst/>
          </a:prstGeom>
          <a:solidFill>
            <a:srgbClr val="081A2E"/>
          </a:solidFill>
          <a:ln w="12700">
            <a:solidFill>
              <a:srgbClr val="08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1488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8138160" y="297180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 txBox="1"/>
          <p:nvPr/>
        </p:nvSpPr>
        <p:spPr>
          <a:xfrm>
            <a:off x="8366760" y="3154680"/>
            <a:ext cx="3154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com HTTPS, banco de produção e backup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por Pix, boleto e cartão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usuários por loja (caixa, gerente)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WEDTHEC · LAB 12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fez a WedTech</a:t>
            </a:r>
            <a:endParaRPr lang="en-US" sz="32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 t="12500" b="12500"/>
          <a:stretch/>
        </p:blipFill>
        <p:spPr>
          <a:xfrm>
            <a:off x="891540" y="1737360"/>
            <a:ext cx="1325880" cy="132588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Ismael Piva V. L. Silva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da equipe</a:t>
            </a:r>
            <a:endParaRPr lang="en-US" sz="1150" dirty="0"/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rcRect t="-1607" b="26607"/>
          <a:stretch>
            <a:fillRect/>
          </a:stretch>
        </p:blipFill>
        <p:spPr>
          <a:xfrm>
            <a:off x="3150108" y="1777538"/>
            <a:ext cx="1325880" cy="1325880"/>
          </a:xfrm>
          <a:prstGeom prst="ellipse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807208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Marcos Rubens dos Santos Neto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2807208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 FRONT-END</a:t>
            </a:r>
            <a:endParaRPr lang="en-US" sz="1150" dirty="0"/>
          </a:p>
        </p:txBody>
      </p:sp>
      <p:pic>
        <p:nvPicPr>
          <p:cNvPr id="10" name="Image 2"/>
          <p:cNvPicPr>
            <a:picLocks noChangeAspect="1"/>
          </p:cNvPicPr>
          <p:nvPr/>
        </p:nvPicPr>
        <p:blipFill>
          <a:blip r:embed="rId5"/>
          <a:srcRect t="12500" b="12500"/>
          <a:stretch/>
        </p:blipFill>
        <p:spPr>
          <a:xfrm>
            <a:off x="5408676" y="1737360"/>
            <a:ext cx="1325880" cy="1325880"/>
          </a:xfrm>
          <a:prstGeom prst="ellipse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065776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Thiago Welington de M. Ferreira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5065776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150" dirty="0"/>
          </a:p>
        </p:txBody>
      </p:sp>
      <p:pic>
        <p:nvPicPr>
          <p:cNvPr id="13" name="Image 3"/>
          <p:cNvPicPr>
            <a:picLocks noChangeAspect="1"/>
          </p:cNvPicPr>
          <p:nvPr/>
        </p:nvPicPr>
        <p:blipFill>
          <a:blip r:embed="rId6"/>
          <a:srcRect l="10274" t="37329" r="10274" b="3082"/>
          <a:stretch>
            <a:fillRect/>
          </a:stretch>
        </p:blipFill>
        <p:spPr>
          <a:xfrm>
            <a:off x="7667244" y="1737360"/>
            <a:ext cx="1325880" cy="1325880"/>
          </a:xfrm>
          <a:prstGeom prst="ellipse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24344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Morales Ferreira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7324344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150" dirty="0"/>
          </a:p>
        </p:txBody>
      </p:sp>
      <p:pic>
        <p:nvPicPr>
          <p:cNvPr id="16" name="Image 4"/>
          <p:cNvPicPr>
            <a:picLocks noChangeAspect="1"/>
          </p:cNvPicPr>
          <p:nvPr/>
        </p:nvPicPr>
        <p:blipFill>
          <a:blip r:embed="rId7"/>
          <a:srcRect t="12500" b="12500"/>
          <a:stretch/>
        </p:blipFill>
        <p:spPr>
          <a:xfrm>
            <a:off x="9925812" y="1737360"/>
            <a:ext cx="1325880" cy="1325880"/>
          </a:xfrm>
          <a:prstGeom prst="ellipse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582912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Santos Eli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9582912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150" dirty="0"/>
          </a:p>
        </p:txBody>
      </p:sp>
      <p:pic>
        <p:nvPicPr>
          <p:cNvPr id="19" name="Image 5"/>
          <p:cNvPicPr>
            <a:picLocks noChangeAspect="1"/>
          </p:cNvPicPr>
          <p:nvPr/>
        </p:nvPicPr>
        <p:blipFill>
          <a:blip r:embed="rId8"/>
          <a:srcRect t="12500" b="12500"/>
          <a:stretch/>
        </p:blipFill>
        <p:spPr>
          <a:xfrm>
            <a:off x="891540" y="4114800"/>
            <a:ext cx="1325880" cy="1325880"/>
          </a:xfrm>
          <a:prstGeom prst="ellipse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48640" y="5532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Mateus Martins Santos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548640" y="6035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150" dirty="0"/>
          </a:p>
        </p:txBody>
      </p:sp>
      <p:pic>
        <p:nvPicPr>
          <p:cNvPr id="22" name="Image 6"/>
          <p:cNvPicPr>
            <a:picLocks noChangeAspect="1"/>
          </p:cNvPicPr>
          <p:nvPr/>
        </p:nvPicPr>
        <p:blipFill>
          <a:blip r:embed="rId9"/>
          <a:srcRect t="12500" b="12500"/>
          <a:stretch/>
        </p:blipFill>
        <p:spPr>
          <a:xfrm>
            <a:off x="3150108" y="4114800"/>
            <a:ext cx="1325880" cy="1325880"/>
          </a:xfrm>
          <a:prstGeom prst="ellipse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2807208" y="5532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Matheus Ferreira Oliveira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2807208" y="6035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BACK-END</a:t>
            </a:r>
            <a:endParaRPr lang="en-US" sz="1150" dirty="0"/>
          </a:p>
        </p:txBody>
      </p:sp>
      <p:pic>
        <p:nvPicPr>
          <p:cNvPr id="25" name="Image 7"/>
          <p:cNvPicPr>
            <a:picLocks noChangeAspect="1"/>
          </p:cNvPicPr>
          <p:nvPr/>
        </p:nvPicPr>
        <p:blipFill>
          <a:blip r:embed="rId10"/>
          <a:srcRect t="12500" b="12500"/>
          <a:stretch/>
        </p:blipFill>
        <p:spPr>
          <a:xfrm>
            <a:off x="5408676" y="4114800"/>
            <a:ext cx="1325880" cy="1325880"/>
          </a:xfrm>
          <a:prstGeom prst="ellipse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5065776" y="5532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Deyvson Lucas Morais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5065776" y="6035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50" dirty="0"/>
          </a:p>
        </p:txBody>
      </p:sp>
      <p:pic>
        <p:nvPicPr>
          <p:cNvPr id="28" name="Image 8"/>
          <p:cNvPicPr>
            <a:picLocks noChangeAspect="1"/>
          </p:cNvPicPr>
          <p:nvPr/>
        </p:nvPicPr>
        <p:blipFill>
          <a:blip r:embed="rId11"/>
          <a:srcRect t="12500" b="12500"/>
          <a:stretch/>
        </p:blipFill>
        <p:spPr>
          <a:xfrm>
            <a:off x="7667244" y="4114800"/>
            <a:ext cx="1325880" cy="1325880"/>
          </a:xfrm>
          <a:prstGeom prst="ellipse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7324344" y="5532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Jaaziel Fernandes da Silva B.</a:t>
            </a:r>
            <a:endParaRPr lang="en-US" sz="1300" dirty="0"/>
          </a:p>
        </p:txBody>
      </p:sp>
      <p:sp>
        <p:nvSpPr>
          <p:cNvPr id="30" name="Text 19"/>
          <p:cNvSpPr txBox="1"/>
          <p:nvPr/>
        </p:nvSpPr>
        <p:spPr>
          <a:xfrm>
            <a:off x="7324344" y="6035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OPERACIONAL</a:t>
            </a:r>
            <a:endParaRPr lang="en-US" sz="1150" dirty="0"/>
          </a:p>
        </p:txBody>
      </p:sp>
      <p:pic>
        <p:nvPicPr>
          <p:cNvPr id="31" name="Image 9"/>
          <p:cNvPicPr>
            <a:picLocks noChangeAspect="1"/>
          </p:cNvPicPr>
          <p:nvPr/>
        </p:nvPicPr>
        <p:blipFill>
          <a:blip r:embed="rId12"/>
          <a:srcRect t="12500" b="12500"/>
          <a:stretch/>
        </p:blipFill>
        <p:spPr>
          <a:xfrm>
            <a:off x="9925812" y="4114800"/>
            <a:ext cx="1325880" cy="1325880"/>
          </a:xfrm>
          <a:prstGeom prst="ellipse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9582912" y="5532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Gustavo Rodrigues Santos de Lima</a:t>
            </a:r>
            <a:endParaRPr lang="en-US" sz="1300" dirty="0"/>
          </a:p>
        </p:txBody>
      </p:sp>
      <p:sp>
        <p:nvSpPr>
          <p:cNvPr id="33" name="Text 21"/>
          <p:cNvSpPr txBox="1"/>
          <p:nvPr/>
        </p:nvSpPr>
        <p:spPr>
          <a:xfrm>
            <a:off x="9582912" y="6035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BACK-END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img/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21792"/>
            <a:ext cx="859536" cy="859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01168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estoque só.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canais.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75A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venda perdida.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Agora, a demonstração ao vivo.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6766560" cy="685800"/>
          </a:xfrm>
          <a:prstGeom prst="roundRect">
            <a:avLst>
              <a:gd name="adj" fmla="val 13333"/>
            </a:avLst>
          </a:prstGeom>
          <a:solidFill>
            <a:srgbClr val="102A4A"/>
          </a:solidFill>
          <a:ln w="12700">
            <a:solidFill>
              <a:srgbClr val="173F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22976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53492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github.com/wedtechoficial2026/wwedtech-oficial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818120" y="1965960"/>
            <a:ext cx="3886200" cy="1847088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2" descr="img/cana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011680"/>
            <a:ext cx="3794760" cy="17556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818120" y="4023360"/>
            <a:ext cx="3886200" cy="2221992"/>
          </a:xfrm>
          <a:prstGeom prst="rect">
            <a:avLst/>
          </a:prstGeom>
          <a:solidFill>
            <a:srgbClr val="102A4A"/>
          </a:solidFill>
          <a:ln w="12700">
            <a:solidFill>
              <a:srgbClr val="102A4A"/>
            </a:solidFill>
            <a:prstDash val="solid"/>
          </a:ln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3" descr="img/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4069080"/>
            <a:ext cx="3794760" cy="21305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1963</Words>
  <Application>Microsoft Office PowerPoint</Application>
  <PresentationFormat>Widescreen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WedTech — Pitch Final Hackathon WECTI 2026</dc:title>
  <dc:subject>PptxGenJS Presentation</dc:subject>
  <dc:creator>Equipe WedThec</dc:creator>
  <cp:lastModifiedBy>MARCOS RUBENS DOS SANTOS NETO</cp:lastModifiedBy>
  <cp:revision>2</cp:revision>
  <dcterms:created xsi:type="dcterms:W3CDTF">2026-09-30T19:30:53Z</dcterms:created>
  <dcterms:modified xsi:type="dcterms:W3CDTF">2026-09-30T23:18:13Z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2026-09-30T23:18:08Z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d936cc13-414f-4835-ab36-8e0bd69adb44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